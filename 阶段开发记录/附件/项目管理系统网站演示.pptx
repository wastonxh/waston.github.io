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0" r:id="rId7"/>
    <p:sldId id="261" r:id="rId8"/>
    <p:sldId id="263" r:id="rId9"/>
    <p:sldId id="266" r:id="rId10"/>
    <p:sldId id="267" r:id="rId11"/>
    <p:sldId id="269" r:id="rId12"/>
    <p:sldId id="268" r:id="rId13"/>
    <p:sldId id="271" r:id="rId14"/>
    <p:sldId id="272" r:id="rId15"/>
    <p:sldId id="273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image" Target="../media/image2.png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image" Target="../media/image3.png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image" Target="../media/image4.png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 userDrawn="1">
            <p:custDataLst>
              <p:tags r:id="rId2"/>
            </p:custDataLst>
          </p:nvPr>
        </p:nvSpPr>
        <p:spPr>
          <a:xfrm>
            <a:off x="6055961" y="826274"/>
            <a:ext cx="5909293" cy="5793934"/>
          </a:xfrm>
          <a:custGeom>
            <a:avLst/>
            <a:gdLst>
              <a:gd name="connsiteX0" fmla="*/ 3879682 w 5909293"/>
              <a:gd name="connsiteY0" fmla="*/ 175 h 5793934"/>
              <a:gd name="connsiteX1" fmla="*/ 4334567 w 5909293"/>
              <a:gd name="connsiteY1" fmla="*/ 60453 h 5793934"/>
              <a:gd name="connsiteX2" fmla="*/ 5246308 w 5909293"/>
              <a:gd name="connsiteY2" fmla="*/ 1122598 h 5793934"/>
              <a:gd name="connsiteX3" fmla="*/ 5872742 w 5909293"/>
              <a:gd name="connsiteY3" fmla="*/ 3288868 h 5793934"/>
              <a:gd name="connsiteX4" fmla="*/ 5819651 w 5909293"/>
              <a:gd name="connsiteY4" fmla="*/ 4125030 h 5793934"/>
              <a:gd name="connsiteX5" fmla="*/ 5157837 w 5909293"/>
              <a:gd name="connsiteY5" fmla="*/ 4912778 h 5793934"/>
              <a:gd name="connsiteX6" fmla="*/ 3379536 w 5909293"/>
              <a:gd name="connsiteY6" fmla="*/ 5735681 h 5793934"/>
              <a:gd name="connsiteX7" fmla="*/ 2078353 w 5909293"/>
              <a:gd name="connsiteY7" fmla="*/ 5726438 h 5793934"/>
              <a:gd name="connsiteX8" fmla="*/ 1489530 w 5909293"/>
              <a:gd name="connsiteY8" fmla="*/ 5363600 h 5793934"/>
              <a:gd name="connsiteX9" fmla="*/ 1035251 w 5909293"/>
              <a:gd name="connsiteY9" fmla="*/ 4220617 h 5793934"/>
              <a:gd name="connsiteX10" fmla="*/ 602247 w 5909293"/>
              <a:gd name="connsiteY10" fmla="*/ 3634929 h 5793934"/>
              <a:gd name="connsiteX11" fmla="*/ 169546 w 5909293"/>
              <a:gd name="connsiteY11" fmla="*/ 2942699 h 5793934"/>
              <a:gd name="connsiteX12" fmla="*/ 652478 w 5909293"/>
              <a:gd name="connsiteY12" fmla="*/ 842508 h 5793934"/>
              <a:gd name="connsiteX13" fmla="*/ 1316613 w 5909293"/>
              <a:gd name="connsiteY13" fmla="*/ 445895 h 5793934"/>
              <a:gd name="connsiteX14" fmla="*/ 1375567 w 5909293"/>
              <a:gd name="connsiteY14" fmla="*/ 424437 h 5793934"/>
              <a:gd name="connsiteX15" fmla="*/ 3408460 w 5909293"/>
              <a:gd name="connsiteY15" fmla="*/ 39296 h 5793934"/>
              <a:gd name="connsiteX16" fmla="*/ 3879682 w 5909293"/>
              <a:gd name="connsiteY16" fmla="*/ 175 h 5793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909293" h="5793934">
                <a:moveTo>
                  <a:pt x="3879682" y="175"/>
                </a:moveTo>
                <a:cubicBezTo>
                  <a:pt x="4036099" y="-1809"/>
                  <a:pt x="4189792" y="12773"/>
                  <a:pt x="4334567" y="60453"/>
                </a:cubicBezTo>
                <a:cubicBezTo>
                  <a:pt x="4813657" y="215756"/>
                  <a:pt x="5066087" y="681130"/>
                  <a:pt x="5246308" y="1122598"/>
                </a:cubicBezTo>
                <a:cubicBezTo>
                  <a:pt x="5530593" y="1818660"/>
                  <a:pt x="5740779" y="2546018"/>
                  <a:pt x="5872742" y="3288868"/>
                </a:cubicBezTo>
                <a:cubicBezTo>
                  <a:pt x="5918136" y="3538857"/>
                  <a:pt x="5941127" y="3794404"/>
                  <a:pt x="5819651" y="4125030"/>
                </a:cubicBezTo>
                <a:cubicBezTo>
                  <a:pt x="5698175" y="4455657"/>
                  <a:pt x="5555500" y="4602769"/>
                  <a:pt x="5157837" y="4912778"/>
                </a:cubicBezTo>
                <a:cubicBezTo>
                  <a:pt x="4760174" y="5222787"/>
                  <a:pt x="3749504" y="5653807"/>
                  <a:pt x="3379536" y="5735681"/>
                </a:cubicBezTo>
                <a:cubicBezTo>
                  <a:pt x="3009569" y="5817556"/>
                  <a:pt x="2330918" y="5811898"/>
                  <a:pt x="2078353" y="5726438"/>
                </a:cubicBezTo>
                <a:cubicBezTo>
                  <a:pt x="1825789" y="5640979"/>
                  <a:pt x="1633575" y="5511056"/>
                  <a:pt x="1489530" y="5363600"/>
                </a:cubicBezTo>
                <a:cubicBezTo>
                  <a:pt x="1194462" y="5065173"/>
                  <a:pt x="1220104" y="4592041"/>
                  <a:pt x="1035251" y="4220617"/>
                </a:cubicBezTo>
                <a:cubicBezTo>
                  <a:pt x="929927" y="4002824"/>
                  <a:pt x="753122" y="3825759"/>
                  <a:pt x="602247" y="3634929"/>
                </a:cubicBezTo>
                <a:cubicBezTo>
                  <a:pt x="430739" y="3418728"/>
                  <a:pt x="291908" y="3187171"/>
                  <a:pt x="169546" y="2942699"/>
                </a:cubicBezTo>
                <a:cubicBezTo>
                  <a:pt x="-176217" y="2249976"/>
                  <a:pt x="17688" y="1398039"/>
                  <a:pt x="652478" y="842508"/>
                </a:cubicBezTo>
                <a:cubicBezTo>
                  <a:pt x="844971" y="671207"/>
                  <a:pt x="1070014" y="535650"/>
                  <a:pt x="1316613" y="445895"/>
                </a:cubicBezTo>
                <a:cubicBezTo>
                  <a:pt x="1336025" y="438830"/>
                  <a:pt x="1354717" y="432026"/>
                  <a:pt x="1375567" y="424437"/>
                </a:cubicBezTo>
                <a:cubicBezTo>
                  <a:pt x="2029851" y="208795"/>
                  <a:pt x="2725822" y="123350"/>
                  <a:pt x="3408460" y="39296"/>
                </a:cubicBezTo>
                <a:cubicBezTo>
                  <a:pt x="3564127" y="20711"/>
                  <a:pt x="3723266" y="2160"/>
                  <a:pt x="3879682" y="17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27" name="图片 26" descr="无人机5资源 1@600x-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434330" y="1677670"/>
            <a:ext cx="6643370" cy="51803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702945" y="1304926"/>
            <a:ext cx="5393055" cy="2152650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01675" y="3740150"/>
            <a:ext cx="2880995" cy="58039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r>
              <a:rPr lang="zh-CN" altLang="en-US" dirty="0"/>
              <a:t>汇报人：</a:t>
            </a:r>
            <a:r>
              <a:rPr lang="en-US" altLang="zh-CN" dirty="0"/>
              <a:t>WPS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8"/>
            <p:custDataLst>
              <p:tags r:id="rId7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9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20"/>
            <p:custDataLst>
              <p:tags r:id="rId9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325" y="1276350"/>
            <a:ext cx="10799475" cy="4901565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6"/>
          <p:cNvSpPr/>
          <p:nvPr>
            <p:custDataLst>
              <p:tags r:id="rId2"/>
            </p:custDataLst>
          </p:nvPr>
        </p:nvSpPr>
        <p:spPr bwMode="auto">
          <a:xfrm>
            <a:off x="837565" y="3313430"/>
            <a:ext cx="3971925" cy="3523615"/>
          </a:xfrm>
          <a:custGeom>
            <a:avLst/>
            <a:gdLst>
              <a:gd name="T0" fmla="*/ 1557 w 2458"/>
              <a:gd name="T1" fmla="*/ 0 h 2180"/>
              <a:gd name="T2" fmla="*/ 1529 w 2458"/>
              <a:gd name="T3" fmla="*/ 0 h 2180"/>
              <a:gd name="T4" fmla="*/ 618 w 2458"/>
              <a:gd name="T5" fmla="*/ 140 h 2180"/>
              <a:gd name="T6" fmla="*/ 233 w 2458"/>
              <a:gd name="T7" fmla="*/ 281 h 2180"/>
              <a:gd name="T8" fmla="*/ 13 w 2458"/>
              <a:gd name="T9" fmla="*/ 831 h 2180"/>
              <a:gd name="T10" fmla="*/ 81 w 2458"/>
              <a:gd name="T11" fmla="*/ 1775 h 2180"/>
              <a:gd name="T12" fmla="*/ 215 w 2458"/>
              <a:gd name="T13" fmla="*/ 2066 h 2180"/>
              <a:gd name="T14" fmla="*/ 645 w 2458"/>
              <a:gd name="T15" fmla="*/ 2180 h 2180"/>
              <a:gd name="T16" fmla="*/ 1805 w 2458"/>
              <a:gd name="T17" fmla="*/ 2180 h 2180"/>
              <a:gd name="T18" fmla="*/ 2036 w 2458"/>
              <a:gd name="T19" fmla="*/ 2135 h 2180"/>
              <a:gd name="T20" fmla="*/ 2235 w 2458"/>
              <a:gd name="T21" fmla="*/ 1964 h 2180"/>
              <a:gd name="T22" fmla="*/ 2251 w 2458"/>
              <a:gd name="T23" fmla="*/ 1448 h 2180"/>
              <a:gd name="T24" fmla="*/ 2343 w 2458"/>
              <a:gd name="T25" fmla="*/ 1155 h 2180"/>
              <a:gd name="T26" fmla="*/ 2419 w 2458"/>
              <a:gd name="T27" fmla="*/ 820 h 2180"/>
              <a:gd name="T28" fmla="*/ 1896 w 2458"/>
              <a:gd name="T29" fmla="*/ 61 h 2180"/>
              <a:gd name="T30" fmla="*/ 1557 w 2458"/>
              <a:gd name="T31" fmla="*/ 0 h 2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458" h="2180">
                <a:moveTo>
                  <a:pt x="1557" y="0"/>
                </a:moveTo>
                <a:cubicBezTo>
                  <a:pt x="1548" y="0"/>
                  <a:pt x="1539" y="0"/>
                  <a:pt x="1529" y="0"/>
                </a:cubicBezTo>
                <a:cubicBezTo>
                  <a:pt x="1222" y="9"/>
                  <a:pt x="917" y="75"/>
                  <a:pt x="618" y="140"/>
                </a:cubicBezTo>
                <a:cubicBezTo>
                  <a:pt x="482" y="170"/>
                  <a:pt x="340" y="202"/>
                  <a:pt x="233" y="281"/>
                </a:cubicBezTo>
                <a:cubicBezTo>
                  <a:pt x="56" y="411"/>
                  <a:pt x="21" y="631"/>
                  <a:pt x="13" y="831"/>
                </a:cubicBezTo>
                <a:cubicBezTo>
                  <a:pt x="0" y="1146"/>
                  <a:pt x="23" y="1463"/>
                  <a:pt x="81" y="1775"/>
                </a:cubicBezTo>
                <a:cubicBezTo>
                  <a:pt x="100" y="1880"/>
                  <a:pt x="128" y="1991"/>
                  <a:pt x="215" y="2066"/>
                </a:cubicBezTo>
                <a:cubicBezTo>
                  <a:pt x="323" y="2159"/>
                  <a:pt x="491" y="2172"/>
                  <a:pt x="645" y="2180"/>
                </a:cubicBezTo>
                <a:cubicBezTo>
                  <a:pt x="1805" y="2180"/>
                  <a:pt x="1805" y="2180"/>
                  <a:pt x="1805" y="2180"/>
                </a:cubicBezTo>
                <a:cubicBezTo>
                  <a:pt x="1884" y="2180"/>
                  <a:pt x="1963" y="2165"/>
                  <a:pt x="2036" y="2135"/>
                </a:cubicBezTo>
                <a:cubicBezTo>
                  <a:pt x="2124" y="2098"/>
                  <a:pt x="2197" y="2043"/>
                  <a:pt x="2235" y="1964"/>
                </a:cubicBezTo>
                <a:cubicBezTo>
                  <a:pt x="2313" y="1804"/>
                  <a:pt x="2230" y="1621"/>
                  <a:pt x="2251" y="1448"/>
                </a:cubicBezTo>
                <a:cubicBezTo>
                  <a:pt x="2262" y="1347"/>
                  <a:pt x="2309" y="1252"/>
                  <a:pt x="2343" y="1155"/>
                </a:cubicBezTo>
                <a:cubicBezTo>
                  <a:pt x="2382" y="1045"/>
                  <a:pt x="2405" y="934"/>
                  <a:pt x="2419" y="820"/>
                </a:cubicBezTo>
                <a:cubicBezTo>
                  <a:pt x="2458" y="497"/>
                  <a:pt x="2247" y="189"/>
                  <a:pt x="1896" y="61"/>
                </a:cubicBezTo>
                <a:cubicBezTo>
                  <a:pt x="1789" y="21"/>
                  <a:pt x="1674" y="0"/>
                  <a:pt x="1557" y="0"/>
                </a:cubicBezTo>
              </a:path>
            </a:pathLst>
          </a:custGeom>
          <a:solidFill>
            <a:schemeClr val="accent1">
              <a:alpha val="17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837565" y="565150"/>
            <a:ext cx="2129790" cy="1081405"/>
          </a:xfrm>
        </p:spPr>
        <p:txBody>
          <a:bodyPr wrap="square" anchor="ctr" anchorCtr="0">
            <a:normAutofit/>
          </a:bodyPr>
          <a:lstStyle>
            <a:lvl1pPr algn="l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0" r="27352"/>
          <a:stretch>
            <a:fillRect/>
          </a:stretch>
        </p:blipFill>
        <p:spPr>
          <a:xfrm>
            <a:off x="1198245" y="2017395"/>
            <a:ext cx="3556000" cy="4831715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"/>
          <p:cNvSpPr/>
          <p:nvPr userDrawn="1">
            <p:custDataLst>
              <p:tags r:id="rId2"/>
            </p:custDataLst>
          </p:nvPr>
        </p:nvSpPr>
        <p:spPr bwMode="auto">
          <a:xfrm rot="6240000" flipH="1">
            <a:off x="1155700" y="2376170"/>
            <a:ext cx="2943225" cy="3514725"/>
          </a:xfrm>
          <a:custGeom>
            <a:avLst/>
            <a:gdLst>
              <a:gd name="connsiteX0" fmla="*/ 4417 w 6611"/>
              <a:gd name="connsiteY0" fmla="*/ 31 h 6706"/>
              <a:gd name="connsiteX1" fmla="*/ 3525 w 6611"/>
              <a:gd name="connsiteY1" fmla="*/ 35 h 6706"/>
              <a:gd name="connsiteX2" fmla="*/ 1943 w 6611"/>
              <a:gd name="connsiteY2" fmla="*/ 444 h 6706"/>
              <a:gd name="connsiteX3" fmla="*/ 850 w 6611"/>
              <a:gd name="connsiteY3" fmla="*/ 1131 h 6706"/>
              <a:gd name="connsiteX4" fmla="*/ 7 w 6611"/>
              <a:gd name="connsiteY4" fmla="*/ 2491 h 6706"/>
              <a:gd name="connsiteX5" fmla="*/ 211 w 6611"/>
              <a:gd name="connsiteY5" fmla="*/ 4826 h 6706"/>
              <a:gd name="connsiteX6" fmla="*/ 752 w 6611"/>
              <a:gd name="connsiteY6" fmla="*/ 5937 h 6706"/>
              <a:gd name="connsiteX7" fmla="*/ 1926 w 6611"/>
              <a:gd name="connsiteY7" fmla="*/ 6575 h 6706"/>
              <a:gd name="connsiteX8" fmla="*/ 4060 w 6611"/>
              <a:gd name="connsiteY8" fmla="*/ 6611 h 6706"/>
              <a:gd name="connsiteX9" fmla="*/ 5547 w 6611"/>
              <a:gd name="connsiteY9" fmla="*/ 5965 h 6706"/>
              <a:gd name="connsiteX10" fmla="*/ 6120 w 6611"/>
              <a:gd name="connsiteY10" fmla="*/ 5119 h 6706"/>
              <a:gd name="connsiteX11" fmla="*/ 6193 w 6611"/>
              <a:gd name="connsiteY11" fmla="*/ 4057 h 6706"/>
              <a:gd name="connsiteX12" fmla="*/ 6398 w 6611"/>
              <a:gd name="connsiteY12" fmla="*/ 3222 h 6706"/>
              <a:gd name="connsiteX13" fmla="*/ 6599 w 6611"/>
              <a:gd name="connsiteY13" fmla="*/ 2281 h 6706"/>
              <a:gd name="connsiteX14" fmla="*/ 5278 w 6611"/>
              <a:gd name="connsiteY14" fmla="*/ 246 h 6706"/>
              <a:gd name="connsiteX15" fmla="*/ 4417 w 6611"/>
              <a:gd name="connsiteY15" fmla="*/ 31 h 6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0" t="0" r="r" b="b"/>
            <a:pathLst>
              <a:path w="6612" h="6706">
                <a:moveTo>
                  <a:pt x="4417" y="31"/>
                </a:moveTo>
                <a:cubicBezTo>
                  <a:pt x="4275" y="12"/>
                  <a:pt x="4045" y="-31"/>
                  <a:pt x="3525" y="35"/>
                </a:cubicBezTo>
                <a:cubicBezTo>
                  <a:pt x="3006" y="101"/>
                  <a:pt x="2368" y="252"/>
                  <a:pt x="1943" y="444"/>
                </a:cubicBezTo>
                <a:cubicBezTo>
                  <a:pt x="1518" y="636"/>
                  <a:pt x="1206" y="810"/>
                  <a:pt x="850" y="1131"/>
                </a:cubicBezTo>
                <a:cubicBezTo>
                  <a:pt x="494" y="1452"/>
                  <a:pt x="28" y="1938"/>
                  <a:pt x="7" y="2491"/>
                </a:cubicBezTo>
                <a:cubicBezTo>
                  <a:pt x="-27" y="3362"/>
                  <a:pt x="58" y="4271"/>
                  <a:pt x="211" y="4826"/>
                </a:cubicBezTo>
                <a:cubicBezTo>
                  <a:pt x="364" y="5381"/>
                  <a:pt x="482" y="5677"/>
                  <a:pt x="752" y="5937"/>
                </a:cubicBezTo>
                <a:cubicBezTo>
                  <a:pt x="1022" y="6197"/>
                  <a:pt x="1328" y="6417"/>
                  <a:pt x="1926" y="6575"/>
                </a:cubicBezTo>
                <a:cubicBezTo>
                  <a:pt x="2524" y="6733"/>
                  <a:pt x="3366" y="6751"/>
                  <a:pt x="4060" y="6611"/>
                </a:cubicBezTo>
                <a:cubicBezTo>
                  <a:pt x="4755" y="6471"/>
                  <a:pt x="5352" y="6115"/>
                  <a:pt x="5547" y="5965"/>
                </a:cubicBezTo>
                <a:cubicBezTo>
                  <a:pt x="5742" y="5815"/>
                  <a:pt x="6019" y="5562"/>
                  <a:pt x="6120" y="5119"/>
                </a:cubicBezTo>
                <a:cubicBezTo>
                  <a:pt x="6221" y="4677"/>
                  <a:pt x="6140" y="4535"/>
                  <a:pt x="6193" y="4057"/>
                </a:cubicBezTo>
                <a:cubicBezTo>
                  <a:pt x="6221" y="3778"/>
                  <a:pt x="6310" y="3490"/>
                  <a:pt x="6398" y="3222"/>
                </a:cubicBezTo>
                <a:cubicBezTo>
                  <a:pt x="6538" y="2812"/>
                  <a:pt x="6563" y="2596"/>
                  <a:pt x="6599" y="2281"/>
                </a:cubicBezTo>
                <a:cubicBezTo>
                  <a:pt x="6700" y="1390"/>
                  <a:pt x="6184" y="599"/>
                  <a:pt x="5278" y="246"/>
                </a:cubicBezTo>
                <a:cubicBezTo>
                  <a:pt x="5003" y="136"/>
                  <a:pt x="4559" y="50"/>
                  <a:pt x="4417" y="31"/>
                </a:cubicBezTo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微软雅黑" panose="020B0503020204020204" charset="-122"/>
            </a:endParaRPr>
          </a:p>
        </p:txBody>
      </p:sp>
      <p:pic>
        <p:nvPicPr>
          <p:cNvPr id="7" name="图片 6" descr="D:\工作文件\临时素材\无人机5资源-1@600x-8.png无人机5资源-1@600x-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rcRect l="150" r="150"/>
          <a:stretch>
            <a:fillRect/>
          </a:stretch>
        </p:blipFill>
        <p:spPr>
          <a:xfrm>
            <a:off x="869950" y="1550035"/>
            <a:ext cx="3757930" cy="32626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461000" y="3408045"/>
            <a:ext cx="5892800" cy="1761490"/>
          </a:xfrm>
        </p:spPr>
        <p:txBody>
          <a:bodyPr wrap="square" lIns="0" tIns="0" rIns="0" bIns="0" anchor="t" anchorCtr="0">
            <a:normAutofit/>
          </a:bodyPr>
          <a:lstStyle>
            <a:lvl1pPr algn="l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5461000" y="2364740"/>
            <a:ext cx="5892800" cy="960120"/>
          </a:xfrm>
          <a:prstGeom prst="roundRect">
            <a:avLst>
              <a:gd name="adj" fmla="val 0"/>
            </a:avLst>
          </a:prstGeom>
          <a:noFill/>
        </p:spPr>
        <p:txBody>
          <a:bodyPr wrap="square" anchor="b" anchorCtr="0">
            <a:noAutofit/>
          </a:bodyPr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buNone/>
              <a:defRPr sz="4800" b="1" u="none" strike="noStrike" kern="1200" cap="none" spc="100" normalizeH="0">
                <a:solidFill>
                  <a:schemeClr val="accent1"/>
                </a:solidFill>
                <a:uFillTx/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编号</a:t>
            </a:r>
            <a:endParaRPr lang="zh-CN" altLang="en-US" dirty="0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4"/>
            <p:custDataLst>
              <p:tags r:id="rId7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15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6"/>
            <p:custDataLst>
              <p:tags r:id="rId9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325" y="1276350"/>
            <a:ext cx="5324475" cy="49012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276350"/>
            <a:ext cx="5322600" cy="49012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326" y="1276350"/>
            <a:ext cx="5302250" cy="463385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326" y="2061275"/>
            <a:ext cx="5302250" cy="4128388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276350"/>
            <a:ext cx="5329238" cy="463385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2061275"/>
            <a:ext cx="5329238" cy="4128388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325" y="360000"/>
            <a:ext cx="10806113" cy="581760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325" y="1296000"/>
            <a:ext cx="10806113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6217227" y="854899"/>
            <a:ext cx="5597566" cy="5917440"/>
          </a:xfrm>
          <a:custGeom>
            <a:avLst/>
            <a:gdLst>
              <a:gd name="connsiteX0" fmla="*/ 3604196 w 5597566"/>
              <a:gd name="connsiteY0" fmla="*/ 127 h 5917440"/>
              <a:gd name="connsiteX1" fmla="*/ 5020674 w 5597566"/>
              <a:gd name="connsiteY1" fmla="*/ 776538 h 5917440"/>
              <a:gd name="connsiteX2" fmla="*/ 5376373 w 5597566"/>
              <a:gd name="connsiteY2" fmla="*/ 1444944 h 5917440"/>
              <a:gd name="connsiteX3" fmla="*/ 5557177 w 5597566"/>
              <a:gd name="connsiteY3" fmla="*/ 2184215 h 5917440"/>
              <a:gd name="connsiteX4" fmla="*/ 5545132 w 5597566"/>
              <a:gd name="connsiteY4" fmla="*/ 3578297 h 5917440"/>
              <a:gd name="connsiteX5" fmla="*/ 5202018 w 5597566"/>
              <a:gd name="connsiteY5" fmla="*/ 4624938 h 5917440"/>
              <a:gd name="connsiteX6" fmla="*/ 4250176 w 5597566"/>
              <a:gd name="connsiteY6" fmla="*/ 5603523 h 5917440"/>
              <a:gd name="connsiteX7" fmla="*/ 2275095 w 5597566"/>
              <a:gd name="connsiteY7" fmla="*/ 5916586 h 5917440"/>
              <a:gd name="connsiteX8" fmla="*/ 1243715 w 5597566"/>
              <a:gd name="connsiteY8" fmla="*/ 5698027 h 5917440"/>
              <a:gd name="connsiteX9" fmla="*/ 473239 w 5597566"/>
              <a:gd name="connsiteY9" fmla="*/ 4857811 h 5917440"/>
              <a:gd name="connsiteX10" fmla="*/ 2965 w 5597566"/>
              <a:gd name="connsiteY10" fmla="*/ 3098601 h 5917440"/>
              <a:gd name="connsiteX11" fmla="*/ 230813 w 5597566"/>
              <a:gd name="connsiteY11" fmla="*/ 1734249 h 5917440"/>
              <a:gd name="connsiteX12" fmla="*/ 812883 w 5597566"/>
              <a:gd name="connsiteY12" fmla="*/ 1085274 h 5917440"/>
              <a:gd name="connsiteX13" fmla="*/ 1676967 w 5597566"/>
              <a:gd name="connsiteY13" fmla="*/ 805643 h 5917440"/>
              <a:gd name="connsiteX14" fmla="*/ 2325887 w 5597566"/>
              <a:gd name="connsiteY14" fmla="*/ 463589 h 5917440"/>
              <a:gd name="connsiteX15" fmla="*/ 3063384 w 5597566"/>
              <a:gd name="connsiteY15" fmla="*/ 102968 h 5917440"/>
              <a:gd name="connsiteX16" fmla="*/ 3604196 w 5597566"/>
              <a:gd name="connsiteY16" fmla="*/ 127 h 5917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597566" h="5917440">
                <a:moveTo>
                  <a:pt x="3604196" y="127"/>
                </a:moveTo>
                <a:cubicBezTo>
                  <a:pt x="4143157" y="-6764"/>
                  <a:pt x="4661253" y="268656"/>
                  <a:pt x="5020674" y="776538"/>
                </a:cubicBezTo>
                <a:cubicBezTo>
                  <a:pt x="5168497" y="981494"/>
                  <a:pt x="5331334" y="1331311"/>
                  <a:pt x="5376373" y="1444944"/>
                </a:cubicBezTo>
                <a:cubicBezTo>
                  <a:pt x="5421411" y="1558578"/>
                  <a:pt x="5504481" y="1740109"/>
                  <a:pt x="5557177" y="2184215"/>
                </a:cubicBezTo>
                <a:cubicBezTo>
                  <a:pt x="5609665" y="2627494"/>
                  <a:pt x="5616351" y="3186831"/>
                  <a:pt x="5545132" y="3578297"/>
                </a:cubicBezTo>
                <a:cubicBezTo>
                  <a:pt x="5473912" y="3969764"/>
                  <a:pt x="5394269" y="4263968"/>
                  <a:pt x="5202018" y="4624938"/>
                </a:cubicBezTo>
                <a:cubicBezTo>
                  <a:pt x="5009767" y="4985909"/>
                  <a:pt x="4703629" y="5471999"/>
                  <a:pt x="4250176" y="5603523"/>
                </a:cubicBezTo>
                <a:cubicBezTo>
                  <a:pt x="3536157" y="5811445"/>
                  <a:pt x="2766119" y="5928695"/>
                  <a:pt x="2275095" y="5916586"/>
                </a:cubicBezTo>
                <a:cubicBezTo>
                  <a:pt x="1784072" y="5904476"/>
                  <a:pt x="1514679" y="5867884"/>
                  <a:pt x="1243715" y="5698027"/>
                </a:cubicBezTo>
                <a:cubicBezTo>
                  <a:pt x="972750" y="5528171"/>
                  <a:pt x="727468" y="5320256"/>
                  <a:pt x="473239" y="4857811"/>
                </a:cubicBezTo>
                <a:cubicBezTo>
                  <a:pt x="219012" y="4395366"/>
                  <a:pt x="30316" y="3702028"/>
                  <a:pt x="2965" y="3098601"/>
                </a:cubicBezTo>
                <a:cubicBezTo>
                  <a:pt x="-24592" y="2494347"/>
                  <a:pt x="146889" y="1926640"/>
                  <a:pt x="230813" y="1734249"/>
                </a:cubicBezTo>
                <a:cubicBezTo>
                  <a:pt x="314738" y="1541857"/>
                  <a:pt x="467003" y="1260322"/>
                  <a:pt x="812883" y="1085274"/>
                </a:cubicBezTo>
                <a:cubicBezTo>
                  <a:pt x="1157935" y="910432"/>
                  <a:pt x="1292205" y="948179"/>
                  <a:pt x="1676967" y="805643"/>
                </a:cubicBezTo>
                <a:cubicBezTo>
                  <a:pt x="1902150" y="724878"/>
                  <a:pt x="2122194" y="591756"/>
                  <a:pt x="2325887" y="463589"/>
                </a:cubicBezTo>
                <a:cubicBezTo>
                  <a:pt x="2636399" y="263066"/>
                  <a:pt x="2810049" y="197787"/>
                  <a:pt x="3063384" y="102968"/>
                </a:cubicBezTo>
                <a:cubicBezTo>
                  <a:pt x="3242571" y="36089"/>
                  <a:pt x="3424543" y="2424"/>
                  <a:pt x="3604196" y="127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6" t="-1" r="15418" b="631"/>
          <a:stretch>
            <a:fillRect/>
          </a:stretch>
        </p:blipFill>
        <p:spPr>
          <a:xfrm>
            <a:off x="5990590" y="2422525"/>
            <a:ext cx="5417185" cy="44323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695325" y="1304926"/>
            <a:ext cx="5400675" cy="2152650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02000" y="3740785"/>
            <a:ext cx="2880000" cy="579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8.xml"/><Relationship Id="rId16" Type="http://schemas.openxmlformats.org/officeDocument/2006/relationships/tags" Target="../tags/tag67.xml"/><Relationship Id="rId15" Type="http://schemas.openxmlformats.org/officeDocument/2006/relationships/tags" Target="../tags/tag66.xml"/><Relationship Id="rId14" Type="http://schemas.openxmlformats.org/officeDocument/2006/relationships/tags" Target="../tags/tag65.xml"/><Relationship Id="rId13" Type="http://schemas.openxmlformats.org/officeDocument/2006/relationships/tags" Target="../tags/tag64.xml"/><Relationship Id="rId12" Type="http://schemas.openxmlformats.org/officeDocument/2006/relationships/tags" Target="../tags/tag63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95325" y="1283335"/>
            <a:ext cx="10801350" cy="489458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95325" y="6356350"/>
            <a:ext cx="2886075" cy="365125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600" y="6356350"/>
            <a:ext cx="2884200" cy="365125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tags" Target="../tags/tag79.xml"/><Relationship Id="rId7" Type="http://schemas.openxmlformats.org/officeDocument/2006/relationships/tags" Target="../tags/tag78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1" Type="http://schemas.openxmlformats.org/officeDocument/2006/relationships/slideLayout" Target="../slideLayouts/slideLayout3.xml"/><Relationship Id="rId10" Type="http://schemas.openxmlformats.org/officeDocument/2006/relationships/tags" Target="../tags/tag81.xml"/><Relationship Id="rId1" Type="http://schemas.openxmlformats.org/officeDocument/2006/relationships/tags" Target="../tags/tag7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90.xml"/><Relationship Id="rId4" Type="http://schemas.openxmlformats.org/officeDocument/2006/relationships/image" Target="../media/image6.png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96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9.xml"/><Relationship Id="rId3" Type="http://schemas.openxmlformats.org/officeDocument/2006/relationships/image" Target="../media/image9.png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5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8.xml"/><Relationship Id="rId3" Type="http://schemas.openxmlformats.org/officeDocument/2006/relationships/image" Target="../media/image12.png"/><Relationship Id="rId2" Type="http://schemas.openxmlformats.org/officeDocument/2006/relationships/tags" Target="../tags/tag107.xml"/><Relationship Id="rId1" Type="http://schemas.openxmlformats.org/officeDocument/2006/relationships/tags" Target="../tags/tag106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14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tags" Target="../tags/tag113.xml"/><Relationship Id="rId1" Type="http://schemas.openxmlformats.org/officeDocument/2006/relationships/tags" Target="../tags/tag1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 wrap="square">
            <a:normAutofit fontScale="90000"/>
          </a:bodyPr>
          <a:lstStyle/>
          <a:p>
            <a:r>
              <a:rPr lang="zh-CN" altLang="en-US"/>
              <a:t>项目管理系统网站演示</a:t>
            </a:r>
            <a:r>
              <a:rPr lang="en-US" altLang="zh-CN"/>
              <a:t>--AI</a:t>
            </a:r>
            <a:r>
              <a:rPr lang="zh-CN" altLang="en-US"/>
              <a:t>编程</a:t>
            </a:r>
            <a:r>
              <a:rPr lang="zh-CN" altLang="en-US"/>
              <a:t>完成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汇报人：</a:t>
            </a:r>
            <a:r>
              <a:rPr lang="en-US" altLang="zh-CN" dirty="0"/>
              <a:t>ZXH</a:t>
            </a:r>
            <a:endParaRPr lang="zh-CN" altLang="en-US" dirty="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6" name="序号"/>
          <p:cNvSpPr txBox="1"/>
          <p:nvPr>
            <p:custDataLst>
              <p:tags r:id="rId2"/>
            </p:custDataLst>
          </p:nvPr>
        </p:nvSpPr>
        <p:spPr>
          <a:xfrm>
            <a:off x="5702300" y="2122170"/>
            <a:ext cx="791210" cy="9137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8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01.</a:t>
            </a:r>
            <a:endParaRPr lang="zh-CN" altLang="en-US" sz="28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7" name="项标题"/>
          <p:cNvSpPr txBox="1"/>
          <p:nvPr>
            <p:custDataLst>
              <p:tags r:id="rId3"/>
            </p:custDataLst>
          </p:nvPr>
        </p:nvSpPr>
        <p:spPr>
          <a:xfrm>
            <a:off x="6697345" y="2122170"/>
            <a:ext cx="4796155" cy="90741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accent1"/>
                </a:solidFill>
                <a:latin typeface="+mj-ea"/>
                <a:ea typeface="+mj-ea"/>
              </a:rPr>
              <a:t>需求提示词及</a:t>
            </a:r>
            <a:r>
              <a:rPr lang="en-US" altLang="zh-CN" sz="2400" b="1" spc="300" dirty="0">
                <a:solidFill>
                  <a:schemeClr val="accent1"/>
                </a:solidFill>
                <a:latin typeface="+mj-ea"/>
                <a:ea typeface="+mj-ea"/>
              </a:rPr>
              <a:t>AI</a:t>
            </a:r>
            <a:r>
              <a:rPr lang="zh-CN" altLang="en-US" sz="2400" b="1" spc="300" dirty="0">
                <a:solidFill>
                  <a:schemeClr val="accent1"/>
                </a:solidFill>
                <a:latin typeface="+mj-ea"/>
                <a:ea typeface="+mj-ea"/>
              </a:rPr>
              <a:t>工具</a:t>
            </a:r>
            <a:endParaRPr lang="zh-CN" altLang="en-US" sz="2400" b="1" spc="3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9" name="序号"/>
          <p:cNvSpPr txBox="1"/>
          <p:nvPr>
            <p:custDataLst>
              <p:tags r:id="rId4"/>
            </p:custDataLst>
          </p:nvPr>
        </p:nvSpPr>
        <p:spPr>
          <a:xfrm>
            <a:off x="5702300" y="3123565"/>
            <a:ext cx="791210" cy="90741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8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02.</a:t>
            </a:r>
            <a:endParaRPr lang="en-US" sz="28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" name="项标题"/>
          <p:cNvSpPr txBox="1"/>
          <p:nvPr>
            <p:custDataLst>
              <p:tags r:id="rId5"/>
            </p:custDataLst>
          </p:nvPr>
        </p:nvSpPr>
        <p:spPr>
          <a:xfrm>
            <a:off x="6697345" y="3123565"/>
            <a:ext cx="4796155" cy="90741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accent1"/>
                </a:solidFill>
                <a:latin typeface="+mj-ea"/>
                <a:ea typeface="+mj-ea"/>
              </a:rPr>
              <a:t>页面效果</a:t>
            </a:r>
            <a:r>
              <a:rPr lang="zh-CN" altLang="en-US" sz="2400" b="1" spc="300" dirty="0">
                <a:solidFill>
                  <a:schemeClr val="accent1"/>
                </a:solidFill>
                <a:latin typeface="+mj-ea"/>
                <a:ea typeface="+mj-ea"/>
              </a:rPr>
              <a:t>展示</a:t>
            </a:r>
            <a:endParaRPr lang="zh-CN" altLang="en-US" sz="2400" b="1" spc="3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2" name="序号"/>
          <p:cNvSpPr txBox="1"/>
          <p:nvPr>
            <p:custDataLst>
              <p:tags r:id="rId6"/>
            </p:custDataLst>
          </p:nvPr>
        </p:nvSpPr>
        <p:spPr>
          <a:xfrm>
            <a:off x="5702300" y="4118610"/>
            <a:ext cx="791210" cy="90741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8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03.</a:t>
            </a:r>
            <a:endParaRPr lang="en-US" sz="28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3" name="项标题"/>
          <p:cNvSpPr txBox="1"/>
          <p:nvPr>
            <p:custDataLst>
              <p:tags r:id="rId7"/>
            </p:custDataLst>
          </p:nvPr>
        </p:nvSpPr>
        <p:spPr>
          <a:xfrm>
            <a:off x="6697345" y="4118610"/>
            <a:ext cx="4796155" cy="90741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accent1"/>
                </a:solidFill>
                <a:latin typeface="+mj-ea"/>
                <a:ea typeface="+mj-ea"/>
              </a:rPr>
              <a:t>功能细化及成果</a:t>
            </a:r>
            <a:r>
              <a:rPr lang="zh-CN" altLang="en-US" sz="2400" b="1" spc="300" dirty="0">
                <a:solidFill>
                  <a:schemeClr val="accent1"/>
                </a:solidFill>
                <a:latin typeface="+mj-ea"/>
                <a:ea typeface="+mj-ea"/>
              </a:rPr>
              <a:t>展示</a:t>
            </a:r>
            <a:endParaRPr lang="zh-CN" altLang="en-US" sz="2400" b="1" spc="3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5" name="序号"/>
          <p:cNvSpPr txBox="1"/>
          <p:nvPr>
            <p:custDataLst>
              <p:tags r:id="rId8"/>
            </p:custDataLst>
          </p:nvPr>
        </p:nvSpPr>
        <p:spPr>
          <a:xfrm>
            <a:off x="5702300" y="5113655"/>
            <a:ext cx="791210" cy="9017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280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04.</a:t>
            </a:r>
            <a:endParaRPr lang="en-US" sz="280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6" name="项标题"/>
          <p:cNvSpPr txBox="1"/>
          <p:nvPr>
            <p:custDataLst>
              <p:tags r:id="rId9"/>
            </p:custDataLst>
          </p:nvPr>
        </p:nvSpPr>
        <p:spPr>
          <a:xfrm>
            <a:off x="6697345" y="5113655"/>
            <a:ext cx="4796155" cy="90741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accent1"/>
                </a:solidFill>
                <a:latin typeface="+mj-ea"/>
                <a:ea typeface="+mj-ea"/>
              </a:rPr>
              <a:t>涉及技术</a:t>
            </a:r>
            <a:r>
              <a:rPr lang="zh-CN" altLang="en-US" sz="2400" b="1" spc="300" dirty="0">
                <a:solidFill>
                  <a:schemeClr val="accent1"/>
                </a:solidFill>
                <a:latin typeface="+mj-ea"/>
                <a:ea typeface="+mj-ea"/>
              </a:rPr>
              <a:t>框架</a:t>
            </a:r>
            <a:endParaRPr lang="zh-CN" altLang="en-US" sz="2400" b="1" spc="3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 lIns="0" tIns="0" rIns="0" bIns="0">
            <a:normAutofit/>
          </a:bodyPr>
          <a:lstStyle/>
          <a:p>
            <a:pPr algn="l"/>
            <a:r>
              <a:rPr lang="zh-CN" altLang="en-US" dirty="0"/>
              <a:t>需求提示词及编程</a:t>
            </a:r>
            <a:r>
              <a:rPr lang="zh-CN" altLang="en-US" dirty="0"/>
              <a:t>工具</a:t>
            </a:r>
            <a:endParaRPr lang="zh-CN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noFill/>
        </p:spPr>
        <p:txBody>
          <a:bodyPr wrap="square">
            <a:normAutofit/>
          </a:bodyPr>
          <a:lstStyle/>
          <a:p>
            <a:r>
              <a:rPr lang="en-US" altLang="zh-CN"/>
              <a:t>01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>
            <a:normAutofit fontScale="70000"/>
          </a:bodyPr>
          <a:p>
            <a:r>
              <a:rPr lang="zh-CN" altLang="en-US"/>
              <a:t>解决痛点：目前公司没有一套完整的从需求端到研发、生产、品质的管理流程，目前所有业务流程基本还是靠纸质文件和邮件处理。缺乏系统管理及项目管理流程和数据管理功能。数据查询</a:t>
            </a:r>
            <a:r>
              <a:rPr lang="en-US" altLang="zh-CN"/>
              <a:t>/</a:t>
            </a:r>
            <a:r>
              <a:rPr lang="zh-CN" altLang="en-US"/>
              <a:t>共用状况基本靠人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目标：打造一个系统化平台，实现从业务端到生产端全流程可追溯管理体系，尽量取消纸质清单，实现大数据管理、规范业务进程及为将来科学管控</a:t>
            </a:r>
            <a:r>
              <a:rPr lang="zh-CN" altLang="en-US"/>
              <a:t>项目进阶打下坚实基础，并为低碳环保贡献一份</a:t>
            </a:r>
            <a:r>
              <a:rPr lang="zh-CN" altLang="en-US"/>
              <a:t>力量。</a:t>
            </a:r>
            <a:endParaRPr lang="zh-CN" altLang="en-US"/>
          </a:p>
          <a:p>
            <a:r>
              <a:rPr lang="en-US" altLang="zh-CN">
                <a:sym typeface="+mn-ea"/>
              </a:rPr>
              <a:t>AI </a:t>
            </a:r>
            <a:r>
              <a:rPr lang="zh-CN" altLang="en-US">
                <a:sym typeface="+mn-ea"/>
              </a:rPr>
              <a:t>编程工具选择</a:t>
            </a:r>
            <a:r>
              <a:rPr lang="en-US" altLang="zh-CN">
                <a:sym typeface="+mn-ea"/>
              </a:rPr>
              <a:t>---</a:t>
            </a:r>
            <a:r>
              <a:rPr lang="zh-CN" altLang="en-US">
                <a:sym typeface="+mn-ea"/>
              </a:rPr>
              <a:t>此项目选用免费的</a:t>
            </a:r>
            <a:r>
              <a:rPr lang="en-US" altLang="zh-CN">
                <a:sym typeface="+mn-ea"/>
              </a:rPr>
              <a:t>COZE </a:t>
            </a:r>
            <a:r>
              <a:rPr lang="zh-CN" altLang="en-US">
                <a:sym typeface="+mn-ea"/>
              </a:rPr>
              <a:t>平台（需要先</a:t>
            </a:r>
            <a:r>
              <a:rPr lang="zh-CN" altLang="en-US">
                <a:sym typeface="+mn-ea"/>
              </a:rPr>
              <a:t>注册）</a:t>
            </a:r>
            <a:r>
              <a:rPr lang="en-US" altLang="zh-CN">
                <a:sym typeface="+mn-ea"/>
              </a:rPr>
              <a:t>--“</a:t>
            </a:r>
            <a:r>
              <a:rPr lang="zh-CN" altLang="en-US">
                <a:sym typeface="+mn-ea"/>
              </a:rPr>
              <a:t>网页编程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。</a:t>
            </a:r>
            <a:endParaRPr lang="zh-CN" altLang="en-US"/>
          </a:p>
          <a:p>
            <a:r>
              <a:rPr lang="en-US" altLang="zh-CN"/>
              <a:t>AI</a:t>
            </a:r>
            <a:r>
              <a:rPr lang="zh-CN" altLang="en-US"/>
              <a:t>提示词：我想设计一个公司内部网站，前端用户有业务、研发、采购、质量等部门。各部门需求如下：</a:t>
            </a:r>
            <a:r>
              <a:rPr lang="en-US" altLang="zh-CN"/>
              <a:t>1</a:t>
            </a:r>
            <a:r>
              <a:rPr lang="zh-CN" altLang="en-US"/>
              <a:t>）业务部，主要输入业务组别，客户名称、项目需求（尺寸、分辨率、产品应用、产品类别（可下拉勾选</a:t>
            </a:r>
            <a:r>
              <a:rPr lang="en-US" altLang="zh-CN"/>
              <a:t>7</a:t>
            </a:r>
            <a:r>
              <a:rPr lang="zh-CN" altLang="en-US"/>
              <a:t>个选项）、项目等级）、项目基本信息及要求，最后生成一个需求编号；</a:t>
            </a:r>
            <a:r>
              <a:rPr lang="en-US" altLang="zh-CN"/>
              <a:t>2</a:t>
            </a:r>
            <a:r>
              <a:rPr lang="zh-CN" altLang="en-US"/>
              <a:t>）研发部，根据业务需求编号进入方案设计阶段，主要进行需求评估</a:t>
            </a:r>
            <a:r>
              <a:rPr lang="zh-CN" altLang="en-US"/>
              <a:t>阶段方案设计</a:t>
            </a:r>
            <a:r>
              <a:rPr lang="zh-CN" altLang="en-US"/>
              <a:t>及资源选项，包括玻璃型号、</a:t>
            </a:r>
            <a:r>
              <a:rPr lang="en-US" altLang="zh-CN"/>
              <a:t>IC</a:t>
            </a:r>
            <a:r>
              <a:rPr lang="zh-CN" altLang="en-US"/>
              <a:t>型号、偏光片类型（可下拉勾选</a:t>
            </a:r>
            <a:r>
              <a:rPr lang="en-US" altLang="zh-CN"/>
              <a:t>5</a:t>
            </a:r>
            <a:r>
              <a:rPr lang="zh-CN" altLang="en-US"/>
              <a:t>个选项）、</a:t>
            </a:r>
            <a:r>
              <a:rPr lang="en-US" altLang="zh-CN"/>
              <a:t>FPC </a:t>
            </a:r>
            <a:r>
              <a:rPr lang="zh-CN" altLang="en-US"/>
              <a:t>选项（</a:t>
            </a:r>
            <a:r>
              <a:rPr lang="en-US" altLang="zh-CN"/>
              <a:t>2</a:t>
            </a:r>
            <a:r>
              <a:rPr lang="zh-CN" altLang="en-US"/>
              <a:t>个选项，共用型号或新开）、背光选项（</a:t>
            </a:r>
            <a:r>
              <a:rPr lang="en-US" altLang="zh-CN"/>
              <a:t>2</a:t>
            </a:r>
            <a:r>
              <a:rPr lang="zh-CN" altLang="en-US"/>
              <a:t>个选项，共用型号或新开）、触模屏（两个选项，如是电阻屏则</a:t>
            </a:r>
            <a:r>
              <a:rPr lang="en-US" altLang="zh-CN"/>
              <a:t>2</a:t>
            </a:r>
            <a:r>
              <a:rPr lang="zh-CN" altLang="en-US"/>
              <a:t>个选项，共用型号或新开；如是电容屏还需再填写触控</a:t>
            </a:r>
            <a:r>
              <a:rPr lang="en-US" altLang="zh-CN"/>
              <a:t>IC</a:t>
            </a:r>
            <a:r>
              <a:rPr lang="zh-CN" altLang="en-US"/>
              <a:t>、盖板材质、触控点数需求、特殊应用），并最终根据以上内容生成产品型号</a:t>
            </a:r>
            <a:r>
              <a:rPr lang="en-US" altLang="zh-CN"/>
              <a:t> </a:t>
            </a:r>
            <a:r>
              <a:rPr lang="zh-CN" altLang="en-US"/>
              <a:t>；</a:t>
            </a:r>
            <a:r>
              <a:rPr lang="en-US" altLang="zh-CN"/>
              <a:t>3</a:t>
            </a:r>
            <a:r>
              <a:rPr lang="zh-CN" altLang="en-US"/>
              <a:t>）采购部，负责输入玻璃和</a:t>
            </a:r>
            <a:r>
              <a:rPr lang="en-US" altLang="zh-CN"/>
              <a:t>IC </a:t>
            </a:r>
            <a:r>
              <a:rPr lang="zh-CN" altLang="en-US"/>
              <a:t>资源库，</a:t>
            </a:r>
            <a:r>
              <a:rPr lang="en-US" altLang="zh-CN"/>
              <a:t> </a:t>
            </a:r>
            <a:r>
              <a:rPr lang="zh-CN" altLang="en-US"/>
              <a:t>供研发部调用</a:t>
            </a:r>
            <a:r>
              <a:rPr lang="en-US" altLang="zh-CN"/>
              <a:t> </a:t>
            </a:r>
            <a:r>
              <a:rPr lang="zh-CN" altLang="en-US"/>
              <a:t>；</a:t>
            </a:r>
            <a:r>
              <a:rPr lang="en-US" altLang="zh-CN"/>
              <a:t>4</a:t>
            </a:r>
            <a:r>
              <a:rPr lang="zh-CN" altLang="en-US"/>
              <a:t>）</a:t>
            </a:r>
            <a:r>
              <a:rPr lang="en-US" altLang="zh-CN"/>
              <a:t> </a:t>
            </a:r>
            <a:r>
              <a:rPr lang="zh-CN" altLang="en-US"/>
              <a:t>质量部，负责填写对应产品型号后续项目试产生产过程质量表现。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AI</a:t>
            </a:r>
            <a:r>
              <a:t>编程工具及</a:t>
            </a:r>
            <a:r>
              <a:rPr lang="zh-CN" altLang="en-US"/>
              <a:t>需求提示</a:t>
            </a:r>
            <a:r>
              <a:rPr lang="zh-CN" altLang="en-US"/>
              <a:t>词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3695" y="1825625"/>
            <a:ext cx="1209040" cy="1713230"/>
          </a:xfrm>
          <a:prstGeom prst="rect">
            <a:avLst/>
          </a:prstGeom>
        </p:spPr>
      </p:pic>
      <p:sp>
        <p:nvSpPr>
          <p:cNvPr id="2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初级目标：</a:t>
            </a:r>
            <a:r>
              <a:rPr lang="zh-CN" altLang="en-US">
                <a:sym typeface="+mn-ea"/>
              </a:rPr>
              <a:t>取代纸质出图单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立项单，实现系统填单，减少</a:t>
            </a:r>
            <a:r>
              <a:rPr lang="zh-CN" altLang="en-US">
                <a:sym typeface="+mn-ea"/>
              </a:rPr>
              <a:t>人为出错的可能性。</a:t>
            </a:r>
            <a:endParaRPr lang="zh-CN" altLang="en-US">
              <a:sym typeface="+mn-ea"/>
            </a:endParaRPr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豆包</a:t>
            </a:r>
            <a:r>
              <a:rPr lang="en-US" altLang="zh-CN"/>
              <a:t>AI </a:t>
            </a:r>
            <a:r>
              <a:rPr lang="zh-CN" altLang="en-US"/>
              <a:t>网页编程</a:t>
            </a:r>
            <a:r>
              <a:rPr lang="zh-CN" altLang="en-US"/>
              <a:t>思考：我来帮你设计这个公司内部网站。这是一个多部门协作的综合性项目管理系统，需要为不同部门提供专属的功能模块。</a:t>
            </a:r>
            <a:endParaRPr lang="zh-CN" altLang="en-US"/>
          </a:p>
          <a:p>
            <a:r>
              <a:rPr lang="zh-CN" altLang="en-US"/>
              <a:t>思考及编程过程：</a:t>
            </a:r>
            <a:r>
              <a:rPr lang="en-US" altLang="zh-CN"/>
              <a:t> </a:t>
            </a:r>
            <a:r>
              <a:rPr lang="zh-CN" altLang="en-US"/>
              <a:t>略</a:t>
            </a:r>
            <a:endParaRPr lang="zh-CN" altLang="en-US"/>
          </a:p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p>
            <a:r>
              <a:t>初步目标及</a:t>
            </a:r>
            <a:r>
              <a:rPr lang="en-US" altLang="zh-CN"/>
              <a:t>AI</a:t>
            </a:r>
            <a:r>
              <a:t>思考</a:t>
            </a:r>
            <a:r>
              <a:t>过程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515" y="1823720"/>
            <a:ext cx="2525395" cy="1819910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 flipV="1">
            <a:off x="3516630" y="1950720"/>
            <a:ext cx="4516120" cy="138049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3655695" y="1825625"/>
            <a:ext cx="4312285" cy="167703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 lIns="0" tIns="0" rIns="0" bIns="0">
            <a:normAutofit/>
          </a:bodyPr>
          <a:lstStyle/>
          <a:p>
            <a:pPr algn="l"/>
            <a:r>
              <a:rPr lang="zh-CN" altLang="en-US" dirty="0"/>
              <a:t>页面效果</a:t>
            </a:r>
            <a:r>
              <a:rPr lang="zh-CN" altLang="en-US" dirty="0"/>
              <a:t>展示</a:t>
            </a:r>
            <a:endParaRPr lang="zh-CN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noFill/>
        </p:spPr>
        <p:txBody>
          <a:bodyPr wrap="square">
            <a:normAutofit/>
          </a:bodyPr>
          <a:lstStyle/>
          <a:p>
            <a:r>
              <a:rPr lang="en-US" altLang="zh-CN"/>
              <a:t>02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初级界面（四个功能</a:t>
            </a:r>
            <a:r>
              <a:rPr lang="zh-CN" altLang="en-US"/>
              <a:t>块）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AI </a:t>
            </a:r>
            <a:r>
              <a:t>编程界面</a:t>
            </a:r>
            <a:r>
              <a:t>展示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1896110"/>
            <a:ext cx="5201920" cy="403987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4715" y="1974215"/>
            <a:ext cx="5958840" cy="42037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工作</a:t>
            </a:r>
            <a:r>
              <a:rPr lang="zh-CN" altLang="en-US"/>
              <a:t>流程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AI </a:t>
            </a:r>
            <a:r>
              <a:t>编程界面</a:t>
            </a:r>
            <a:r>
              <a:t>展示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5615" y="1459865"/>
            <a:ext cx="6473190" cy="501269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 lIns="0" tIns="0" rIns="0" bIns="0">
            <a:normAutofit/>
          </a:bodyPr>
          <a:lstStyle/>
          <a:p>
            <a:pPr algn="l"/>
            <a:r>
              <a:rPr lang="zh-CN" altLang="en-US" dirty="0"/>
              <a:t>功能细化及</a:t>
            </a:r>
            <a:r>
              <a:rPr lang="zh-CN" altLang="en-US" dirty="0"/>
              <a:t>成果展示</a:t>
            </a:r>
            <a:endParaRPr lang="zh-CN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noFill/>
        </p:spPr>
        <p:txBody>
          <a:bodyPr wrap="square">
            <a:normAutofit/>
          </a:bodyPr>
          <a:lstStyle/>
          <a:p>
            <a:r>
              <a:rPr lang="en-US" altLang="zh-CN"/>
              <a:t>03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功能细化及成果展示</a:t>
            </a:r>
            <a:r>
              <a:rPr lang="zh-CN" altLang="en-US">
                <a:ea typeface="宋体" panose="02010600030101010101" pitchFamily="2" charset="-122"/>
              </a:rPr>
              <a:t>（过程已</a:t>
            </a:r>
            <a:r>
              <a:rPr lang="zh-CN" altLang="en-US">
                <a:ea typeface="宋体" panose="02010600030101010101" pitchFamily="2" charset="-122"/>
              </a:rPr>
              <a:t>忽略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AI </a:t>
            </a:r>
            <a:r>
              <a:t>输出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360" y="1724025"/>
            <a:ext cx="5570220" cy="4953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1724025"/>
            <a:ext cx="5410200" cy="401574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792595" y="5967730"/>
            <a:ext cx="420941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备注：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Coze </a:t>
            </a: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平台沙箱</a:t>
            </a: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模拟，尚未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未进行实际项目验证（需购买服务相关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IT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服务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）</a:t>
            </a:r>
            <a:endParaRPr lang="zh-CN" altLang="en-US" dirty="0" err="1" smtClean="0">
              <a:solidFill>
                <a:srgbClr val="FF0000"/>
              </a:solidFill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功能细化及成果</a:t>
            </a:r>
            <a:r>
              <a:rPr lang="zh-CN" altLang="en-US"/>
              <a:t>展示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AI </a:t>
            </a:r>
            <a:r>
              <a:t>输出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080" y="1784350"/>
            <a:ext cx="5417820" cy="21183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 lIns="0" tIns="0" rIns="0" bIns="0">
            <a:normAutofit/>
          </a:bodyPr>
          <a:lstStyle/>
          <a:p>
            <a:pPr algn="l"/>
            <a:r>
              <a:rPr lang="zh-CN" altLang="en-US" dirty="0"/>
              <a:t>涉及技术</a:t>
            </a:r>
            <a:r>
              <a:rPr lang="zh-CN" altLang="en-US" dirty="0"/>
              <a:t>框架</a:t>
            </a:r>
            <a:endParaRPr lang="zh-CN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noFill/>
        </p:spPr>
        <p:txBody>
          <a:bodyPr wrap="square">
            <a:normAutofit/>
          </a:bodyPr>
          <a:lstStyle/>
          <a:p>
            <a:r>
              <a:rPr lang="en-US" altLang="zh-CN"/>
              <a:t>04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AI</a:t>
            </a:r>
            <a:r>
              <a:rPr lang="zh-CN" altLang="en-US"/>
              <a:t>汇总上述编程涉及技术</a:t>
            </a:r>
            <a:r>
              <a:rPr lang="zh-CN" altLang="en-US"/>
              <a:t>框架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r>
              <a:t>涉及技术</a:t>
            </a:r>
            <a:r>
              <a:t>框架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720" y="1791335"/>
            <a:ext cx="5570220" cy="41300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5945" y="1791335"/>
            <a:ext cx="5638800" cy="43434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UNIT_TYPE" val="i"/>
  <p:tag name="KSO_WM_UNIT_INDEX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1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UNIT_TYPE" val="i"/>
  <p:tag name="KSO_WM_UNIT_INDEX" val="2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2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TYPE" val="f"/>
  <p:tag name="KSO_WM_UNIT_INDEX" val="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TYPE" val="f"/>
  <p:tag name="KSO_WM_UNIT_INDEX" val="2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29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5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UNIT_TYPE" val="i"/>
  <p:tag name="KSO_WM_UNIT_INDEX" val="2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CATEGORY" val="custom"/>
  <p:tag name="KSO_WM_TEMPLATE_INDEX" val="20230980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40"/>
  <p:tag name="KSO_WM_UNIT_TYPE" val="f"/>
  <p:tag name="KSO_WM_UNIT_INDEX" val="1"/>
  <p:tag name="KSO_WM_TEMPLATE_CATEGORY" val="custom"/>
  <p:tag name="KSO_WM_TEMPLATE_INDEX" val="20230980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980"/>
  <p:tag name="KSO_WM_TEMPLATE_THUMBS_INDEX" val="1、9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980_1*a*1"/>
  <p:tag name="KSO_WM_TEMPLATE_CATEGORY" val="custom"/>
  <p:tag name="KSO_WM_TEMPLATE_INDEX" val="20230980"/>
  <p:tag name="KSO_WM_UNIT_LAYERLEVEL" val="1"/>
  <p:tag name="KSO_WM_TAG_VERSION" val="3.0"/>
  <p:tag name="KSO_WM_BEAUTIFY_FLAG" val="#wm#"/>
  <p:tag name="KSO_WM_UNIT_PRESET_TEXT" val="添加文档标题"/>
  <p:tag name="KSO_WM_UNIT_TEXT_TYPE" val="1"/>
</p:tagLst>
</file>

<file path=ppt/tags/tag70.xml><?xml version="1.0" encoding="utf-8"?>
<p:tagLst xmlns:p="http://schemas.openxmlformats.org/presentationml/2006/main">
  <p:tag name="KSO_WM_UNIT_SUBTYPE" val="b"/>
  <p:tag name="KSO_WM_UNIT_NOCLEAR" val="0"/>
  <p:tag name="KSO_WM_UNIT_VALUE" val="22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980_1*f*1"/>
  <p:tag name="KSO_WM_TEMPLATE_CATEGORY" val="custom"/>
  <p:tag name="KSO_WM_TEMPLATE_INDEX" val="20230980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SLIDE_ID" val="custom20230980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0980"/>
  <p:tag name="KSO_WM_SLIDE_LAYOUT" val="a_f"/>
  <p:tag name="KSO_WM_SLIDE_LAYOUT_CNT" val="1_1"/>
  <p:tag name="KSO_WM_SLIDE_TYPE" val="title"/>
  <p:tag name="KSO_WM_SLIDE_SUBTYPE" val="pureTxt"/>
  <p:tag name="KSO_WM_TEMPLATE_THUMBS_INDEX" val="1、9"/>
  <p:tag name="KSO_WM_SLIDE_THEME_ID" val="3312567"/>
  <p:tag name="KSO_WM_SLIDE_THEME_NAME" val="紫色业绩汇报办公插画主题模板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80_4*a*1"/>
  <p:tag name="KSO_WM_TEMPLATE_CATEGORY" val="custom"/>
  <p:tag name="KSO_WM_TEMPLATE_INDEX" val="20230980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NOCLEAR" val="0"/>
  <p:tag name="KSO_WM_UNIT_VALUE" val="3"/>
  <p:tag name="KSO_WM_UNIT_TYPE" val="a"/>
  <p:tag name="KSO_WM_UNIT_INDEX" val="1"/>
  <p:tag name="KSO_WM_DIAGRAM_GROUP_CODE" val="l1-1"/>
  <p:tag name="KSO_WM_UNIT_TEXT_FILL_FORE_SCHEMECOLOR_INDEX" val="5"/>
  <p:tag name="KSO_WM_UNIT_TEXT_FILL_TYPE" val="1"/>
  <p:tag name="KSO_WM_UNIT_USESOURCEFORMAT_APPLY" val="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custom20230980_4*l_h_i*1_1_1"/>
  <p:tag name="KSO_WM_TEMPLATE_CATEGORY" val="custom"/>
  <p:tag name="KSO_WM_TEMPLATE_INDEX" val="2023098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0.5,&quot;left&quot;:448.6750030517578,&quot;top&quot;:130.35,&quot;width&quot;:456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1"/>
</p:tagLst>
</file>

<file path=ppt/tags/tag7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custom20230980_4*l_h_a*1_1_1"/>
  <p:tag name="KSO_WM_TEMPLATE_CATEGORY" val="custom"/>
  <p:tag name="KSO_WM_TEMPLATE_INDEX" val="2023098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0.5,&quot;left&quot;:448.6750030517578,&quot;top&quot;:130.35,&quot;width&quot;:456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  <p:tag name="KSO_WM_UNIT_TEXT_FILL_FORE_SCHEMECOLOR_INDEX" val="5"/>
  <p:tag name="KSO_WM_UNIT_TEXT_FILL_TYPE" val="1"/>
  <p:tag name="KSO_WM_UNIT_USESOURCEFORMAT_APPLY" val="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custom20230980_4*l_h_i*1_2_1"/>
  <p:tag name="KSO_WM_TEMPLATE_CATEGORY" val="custom"/>
  <p:tag name="KSO_WM_TEMPLATE_INDEX" val="2023098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0.5,&quot;left&quot;:448.6750030517578,&quot;top&quot;:130.35,&quot;width&quot;:456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1"/>
</p:tagLst>
</file>

<file path=ppt/tags/tag7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custom20230980_4*l_h_a*1_2_1"/>
  <p:tag name="KSO_WM_TEMPLATE_CATEGORY" val="custom"/>
  <p:tag name="KSO_WM_TEMPLATE_INDEX" val="2023098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0.5,&quot;left&quot;:448.6750030517578,&quot;top&quot;:130.35,&quot;width&quot;:456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  <p:tag name="KSO_WM_UNIT_TEXT_FILL_FORE_SCHEMECOLOR_INDEX" val="5"/>
  <p:tag name="KSO_WM_UNIT_TEXT_FILL_TYPE" val="1"/>
  <p:tag name="KSO_WM_UNIT_USESOURCEFORMAT_APPLY" val="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230980_4*l_h_i*1_3_1"/>
  <p:tag name="KSO_WM_TEMPLATE_CATEGORY" val="custom"/>
  <p:tag name="KSO_WM_TEMPLATE_INDEX" val="2023098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0.5,&quot;left&quot;:448.6750030517578,&quot;top&quot;:130.35,&quot;width&quot;:456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1"/>
</p:tagLst>
</file>

<file path=ppt/tags/tag7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230980_4*l_h_a*1_3_1"/>
  <p:tag name="KSO_WM_TEMPLATE_CATEGORY" val="custom"/>
  <p:tag name="KSO_WM_TEMPLATE_INDEX" val="2023098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0.5,&quot;left&quot;:448.6750030517578,&quot;top&quot;:130.35,&quot;width&quot;:456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  <p:tag name="KSO_WM_UNIT_TEXT_FILL_FORE_SCHEMECOLOR_INDEX" val="5"/>
  <p:tag name="KSO_WM_UNIT_TEXT_FILL_TYPE" val="1"/>
  <p:tag name="KSO_WM_UNIT_USESOURCEFORMAT_APPLY" val="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230980_4*l_h_i*1_4_1"/>
  <p:tag name="KSO_WM_TEMPLATE_CATEGORY" val="custom"/>
  <p:tag name="KSO_WM_TEMPLATE_INDEX" val="2023098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0.5,&quot;left&quot;:448.6750030517578,&quot;top&quot;:130.35,&quot;width&quot;:456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1"/>
</p:tagLst>
</file>

<file path=ppt/tags/tag8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230980_4*l_h_a*1_4_1"/>
  <p:tag name="KSO_WM_TEMPLATE_CATEGORY" val="custom"/>
  <p:tag name="KSO_WM_TEMPLATE_INDEX" val="2023098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80.5,&quot;left&quot;:448.6750030517578,&quot;top&quot;:130.35,&quot;width&quot;:456.6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  <p:tag name="KSO_WM_UNIT_TEXT_FILL_FORE_SCHEMECOLOR_INDEX" val="5"/>
  <p:tag name="KSO_WM_UNIT_TEXT_FILL_TYPE" val="1"/>
  <p:tag name="KSO_WM_UNIT_USESOURCEFORMAT_APPLY" val="1"/>
</p:tagLst>
</file>

<file path=ppt/tags/tag81.xml><?xml version="1.0" encoding="utf-8"?>
<p:tagLst xmlns:p="http://schemas.openxmlformats.org/presentationml/2006/main">
  <p:tag name="KSO_WM_SLIDE_ID" val="custom20230980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0980"/>
  <p:tag name="KSO_WM_SLIDE_LAYOUT" val="a_l"/>
  <p:tag name="KSO_WM_SLIDE_LAYOUT_CNT" val="1_1"/>
  <p:tag name="KSO_WM_SLIDE_TYPE" val="contents"/>
  <p:tag name="KSO_WM_SLIDE_SUBTYPE" val="diag"/>
  <p:tag name="KSO_WM_DIAGRAM_GROUP_CODE" val="l1-1"/>
  <p:tag name="KSO_WM_SLIDE_DIAGTYPE" val="l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80_7*a*1"/>
  <p:tag name="KSO_WM_TEMPLATE_CATEGORY" val="custom"/>
  <p:tag name="KSO_WM_TEMPLATE_INDEX" val="20230980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  <p:tag name="KSO_WM_UNIT_TEXT_TYPE" val="1"/>
</p:tagLst>
</file>

<file path=ppt/tags/tag83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0980_7*e*1"/>
  <p:tag name="KSO_WM_TEMPLATE_CATEGORY" val="custom"/>
  <p:tag name="KSO_WM_TEMPLATE_INDEX" val="20230980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84.xml><?xml version="1.0" encoding="utf-8"?>
<p:tagLst xmlns:p="http://schemas.openxmlformats.org/presentationml/2006/main">
  <p:tag name="KSO_WM_SLIDE_ID" val="custom20230980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980"/>
  <p:tag name="KSO_WM_SLIDE_TYPE" val="sectionTitle"/>
  <p:tag name="KSO_WM_SLIDE_SUBTYPE" val="pureTxt"/>
  <p:tag name="KSO_WM_SLIDE_LAYOUT" val="a_e"/>
  <p:tag name="KSO_WM_SLIDE_LAYOUT_CNT" val="1_1"/>
  <p:tag name="KSO_WM_SLIDE_THEME_ID" val="3312567"/>
  <p:tag name="KSO_WM_SLIDE_THEME_NAME" val="紫色业绩汇报办公插画主题模板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30980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30980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80_7*a*1"/>
  <p:tag name="KSO_WM_TEMPLATE_CATEGORY" val="custom"/>
  <p:tag name="KSO_WM_TEMPLATE_INDEX" val="20230980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  <p:tag name="KSO_WM_UNIT_TEXT_TYPE" val="1"/>
</p:tagLst>
</file>

<file path=ppt/tags/tag9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0980_7*e*1"/>
  <p:tag name="KSO_WM_TEMPLATE_CATEGORY" val="custom"/>
  <p:tag name="KSO_WM_TEMPLATE_INDEX" val="20230980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93.xml><?xml version="1.0" encoding="utf-8"?>
<p:tagLst xmlns:p="http://schemas.openxmlformats.org/presentationml/2006/main">
  <p:tag name="KSO_WM_SLIDE_ID" val="custom20230980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980"/>
  <p:tag name="KSO_WM_SLIDE_TYPE" val="sectionTitle"/>
  <p:tag name="KSO_WM_SLIDE_SUBTYPE" val="pureTxt"/>
  <p:tag name="KSO_WM_SLIDE_LAYOUT" val="a_e"/>
  <p:tag name="KSO_WM_SLIDE_LAYOUT_CNT" val="1_1"/>
  <p:tag name="KSO_WM_SLIDE_THEME_ID" val="3312567"/>
  <p:tag name="KSO_WM_SLIDE_THEME_NAME" val="紫色业绩汇报办公插画主题模板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30980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30980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80_7*a*1"/>
  <p:tag name="KSO_WM_TEMPLATE_CATEGORY" val="custom"/>
  <p:tag name="KSO_WM_TEMPLATE_INDEX" val="20230980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  <p:tag name="KSO_WM_UNIT_TEXT_TYPE" val="1"/>
</p:tagLst>
</file>

<file path=ppt/tags/tag101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0980_7*e*1"/>
  <p:tag name="KSO_WM_TEMPLATE_CATEGORY" val="custom"/>
  <p:tag name="KSO_WM_TEMPLATE_INDEX" val="20230980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102.xml><?xml version="1.0" encoding="utf-8"?>
<p:tagLst xmlns:p="http://schemas.openxmlformats.org/presentationml/2006/main">
  <p:tag name="KSO_WM_SLIDE_ID" val="custom20230980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980"/>
  <p:tag name="KSO_WM_SLIDE_TYPE" val="sectionTitle"/>
  <p:tag name="KSO_WM_SLIDE_SUBTYPE" val="pureTxt"/>
  <p:tag name="KSO_WM_SLIDE_LAYOUT" val="a_e"/>
  <p:tag name="KSO_WM_SLIDE_LAYOUT_CNT" val="1_1"/>
  <p:tag name="KSO_WM_SLIDE_THEME_ID" val="3312567"/>
  <p:tag name="KSO_WM_SLIDE_THEME_NAME" val="紫色业绩汇报办公插画主题模板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105.xml><?xml version="1.0" encoding="utf-8"?>
<p:tagLst xmlns:p="http://schemas.openxmlformats.org/presentationml/2006/main">
  <p:tag name="KSO_WM_BEAUTIFY_FLAG" val="#wm#"/>
  <p:tag name="KSO_WM_TEMPLATE_CATEGORY" val="custom"/>
  <p:tag name="KSO_WM_TEMPLATE_INDEX" val="20230980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108.xml><?xml version="1.0" encoding="utf-8"?>
<p:tagLst xmlns:p="http://schemas.openxmlformats.org/presentationml/2006/main">
  <p:tag name="KSO_WM_BEAUTIFY_FLAG" val="#wm#"/>
  <p:tag name="KSO_WM_TEMPLATE_CATEGORY" val="custom"/>
  <p:tag name="KSO_WM_TEMPLATE_INDEX" val="20230980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80_7*a*1"/>
  <p:tag name="KSO_WM_TEMPLATE_CATEGORY" val="custom"/>
  <p:tag name="KSO_WM_TEMPLATE_INDEX" val="20230980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  <p:tag name="KSO_WM_UNIT_TEXT_TYPE" val="1"/>
</p:tagLst>
</file>

<file path=ppt/tags/tag11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0980_7*e*1"/>
  <p:tag name="KSO_WM_TEMPLATE_CATEGORY" val="custom"/>
  <p:tag name="KSO_WM_TEMPLATE_INDEX" val="20230980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111.xml><?xml version="1.0" encoding="utf-8"?>
<p:tagLst xmlns:p="http://schemas.openxmlformats.org/presentationml/2006/main">
  <p:tag name="KSO_WM_SLIDE_ID" val="custom20230980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980"/>
  <p:tag name="KSO_WM_SLIDE_TYPE" val="sectionTitle"/>
  <p:tag name="KSO_WM_SLIDE_SUBTYPE" val="pureTxt"/>
  <p:tag name="KSO_WM_SLIDE_LAYOUT" val="a_e"/>
  <p:tag name="KSO_WM_SLIDE_LAYOUT_CNT" val="1_1"/>
  <p:tag name="KSO_WM_SLIDE_THEME_ID" val="3312567"/>
  <p:tag name="KSO_WM_SLIDE_THEME_NAME" val="紫色业绩汇报办公插画主题模板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114.xml><?xml version="1.0" encoding="utf-8"?>
<p:tagLst xmlns:p="http://schemas.openxmlformats.org/presentationml/2006/main">
  <p:tag name="KSO_WM_BEAUTIFY_FLAG" val="#wm#"/>
  <p:tag name="KSO_WM_TEMPLATE_CATEGORY" val="custom"/>
  <p:tag name="KSO_WM_TEMPLATE_INDEX" val="20230980"/>
</p:tagLst>
</file>

<file path=ppt/theme/theme1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主题字体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>
            <a:solidFill>
              <a:schemeClr val="accent1"/>
            </a:soli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971</Words>
  <Application>WPS 演示</Application>
  <PresentationFormat>宽屏</PresentationFormat>
  <Paragraphs>77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Calibri</vt:lpstr>
      <vt:lpstr>Arial Unicode MS</vt:lpstr>
      <vt:lpstr>Office 主题​​</vt:lpstr>
      <vt:lpstr>项目管理系统网站演示--AI编程完成</vt:lpstr>
      <vt:lpstr>目录</vt:lpstr>
      <vt:lpstr>需求提示词及编程工具</vt:lpstr>
      <vt:lpstr>AI编程工具及需求提示词</vt:lpstr>
      <vt:lpstr>初步目标及AI思考过程</vt:lpstr>
      <vt:lpstr>页面效果展示</vt:lpstr>
      <vt:lpstr>AI 编程界面展示</vt:lpstr>
      <vt:lpstr>AI 编程界面展示</vt:lpstr>
      <vt:lpstr>功能细化及成果展示</vt:lpstr>
      <vt:lpstr>AI 输出</vt:lpstr>
      <vt:lpstr>AI 输出</vt:lpstr>
      <vt:lpstr>涉及技术框架</vt:lpstr>
      <vt:lpstr>涉及技术框架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华生</cp:lastModifiedBy>
  <cp:revision>22</cp:revision>
  <dcterms:created xsi:type="dcterms:W3CDTF">2023-08-09T12:44:00Z</dcterms:created>
  <dcterms:modified xsi:type="dcterms:W3CDTF">2026-02-07T06:00:27Z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C465E94DEE14463BA3C42D271566627A_12</vt:lpwstr>
  </property>
</Properties>
</file>